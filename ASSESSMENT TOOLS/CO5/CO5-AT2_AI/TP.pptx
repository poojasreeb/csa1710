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22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0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5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4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2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0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8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32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0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5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5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D1A34-356B-4CD6-AB99-9B4E307F4DC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132CE-5839-47CB-BEA0-94E4E55A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7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-4-5.svg"/><Relationship Id="rId5" Type="http://schemas.openxmlformats.org/officeDocument/2006/relationships/image" Target="../media/image7.png"/><Relationship Id="rId10" Type="http://schemas.openxmlformats.org/officeDocument/2006/relationships/image" Target="../media/image-4-9.svg"/><Relationship Id="rId4" Type="http://schemas.openxmlformats.org/officeDocument/2006/relationships/image" Target="../media/image-4-3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2.svg"/><Relationship Id="rId3" Type="http://schemas.openxmlformats.org/officeDocument/2006/relationships/image" Target="../media/image-5-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-5-2.svg"/><Relationship Id="rId10" Type="http://schemas.openxmlformats.org/officeDocument/2006/relationships/image" Target="../media/image-5-2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-6-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-6-3.svg"/><Relationship Id="rId10" Type="http://schemas.openxmlformats.org/officeDocument/2006/relationships/image" Target="../media/image13.png"/><Relationship Id="rId4" Type="http://schemas.openxmlformats.org/officeDocument/2006/relationships/image" Target="../media/image-6-3.svg"/><Relationship Id="rId9" Type="http://schemas.openxmlformats.org/officeDocument/2006/relationships/image" Target="../media/image-6-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2.svg"/><Relationship Id="rId3" Type="http://schemas.openxmlformats.org/officeDocument/2006/relationships/image" Target="../media/image-7-2.svg"/><Relationship Id="rId12" Type="http://schemas.openxmlformats.org/officeDocument/2006/relationships/image" Target="../media/image-7-10.svg"/><Relationship Id="rId2" Type="http://schemas.openxmlformats.org/officeDocument/2006/relationships/image" Target="../media/image14.png"/><Relationship Id="rId16" Type="http://schemas.openxmlformats.org/officeDocument/2006/relationships/image" Target="../media/image-7-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-7-2.svg"/><Relationship Id="rId10" Type="http://schemas.openxmlformats.org/officeDocument/2006/relationships/image" Target="../media/image-7-10.svg"/><Relationship Id="rId4" Type="http://schemas.openxmlformats.org/officeDocument/2006/relationships/image" Target="../media/image-7-2.svg"/><Relationship Id="rId9" Type="http://schemas.openxmlformats.org/officeDocument/2006/relationships/image" Target="../media/image15.png"/><Relationship Id="rId14" Type="http://schemas.openxmlformats.org/officeDocument/2006/relationships/image" Target="../media/image-7-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5437" y="2405231"/>
            <a:ext cx="7267597" cy="758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dirty="0" smtClean="0">
                <a:latin typeface="Times New Roman" panose="02020603050405020304" pitchFamily="18" charset="0"/>
                <a:ea typeface="Saira Medium" pitchFamily="34" charset="-122"/>
                <a:cs typeface="Times New Roman" panose="02020603050405020304" pitchFamily="18" charset="0"/>
              </a:rPr>
              <a:t>DEEPFAKE DETECTION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3878035" y="187658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 smtClean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Technical presentation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8588828" y="4706386"/>
            <a:ext cx="3479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POOJASREE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(192411091)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1591" y="4706386"/>
            <a:ext cx="27464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Dr. NAGARAJAN 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6F2B30C-F22E-5782-E613-E4AC98692A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92" y="282615"/>
            <a:ext cx="11631485" cy="12153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878035" y="3334738"/>
            <a:ext cx="3738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CSA1710 – Artificial Intelligence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27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5731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Are Deepfakes?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33360" y="1413470"/>
            <a:ext cx="629686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Deepfakes are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AI-generated or manipulated images, videos, or audio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that make a person appear to say or do something they never actually did. Built on deep learning and generative AI, they blur the line between real and synthetic media.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800548"/>
            <a:ext cx="3056853" cy="1953716"/>
          </a:xfrm>
          <a:prstGeom prst="roundRect">
            <a:avLst>
              <a:gd name="adj" fmla="val 1429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5419391" y="2986584"/>
            <a:ext cx="268479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GANs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19391" y="3387130"/>
            <a:ext cx="268479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Generative Adversarial Networks pit two models against each other to produce photorealistic content.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3367" y="2800548"/>
            <a:ext cx="3056853" cy="1953716"/>
          </a:xfrm>
          <a:prstGeom prst="roundRect">
            <a:avLst>
              <a:gd name="adj" fmla="val 1429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8659397" y="2986584"/>
            <a:ext cx="268479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Autoencoders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59397" y="3387130"/>
            <a:ext cx="268479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Compress and reconstruct facial data to swap identities while preserving expressions.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937423"/>
            <a:ext cx="6296860" cy="1363166"/>
          </a:xfrm>
          <a:prstGeom prst="roundRect">
            <a:avLst>
              <a:gd name="adj" fmla="val 2047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5419391" y="5123458"/>
            <a:ext cx="5924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Diffusion Models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19391" y="5524004"/>
            <a:ext cx="59247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Iteratively refine noise into high-fidelity synthetic media with remarkable realism.</a:t>
            </a:r>
            <a:endParaRPr lang="en-US" sz="14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40612"/>
          <a:stretch/>
        </p:blipFill>
        <p:spPr>
          <a:xfrm>
            <a:off x="579664" y="665280"/>
            <a:ext cx="4147457" cy="56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0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How Deepfakes Are Created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1" y="1457424"/>
            <a:ext cx="6319216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5023" y="260568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The Face-Swap Example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775023" y="3024485"/>
            <a:ext cx="522691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person's face can be digitally replaced with another's while </a:t>
            </a:r>
            <a:r>
              <a:rPr lang="en-US" sz="13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preserving facial expressions and movements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frame-by-frame. The AI learns the target's geometry, texture, and lighting — then maps a new identity onto the original footage seamlessly.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775023" y="4230985"/>
            <a:ext cx="5226911" cy="877491"/>
          </a:xfrm>
          <a:prstGeom prst="roundRect">
            <a:avLst>
              <a:gd name="adj" fmla="val 2908"/>
            </a:avLst>
          </a:prstGeom>
          <a:solidFill>
            <a:srgbClr val="ECE6D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079" y="4455517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27756" y="4411166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quality of the output depends directly on the quantity and diversity of training data collected.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8961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4477"/>
            <a:ext cx="6296860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Why Detection Matters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320304"/>
            <a:ext cx="6296860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Deepfakes are not just a technical curiosity — they are a </a:t>
            </a:r>
            <a:r>
              <a:rPr lang="en-US" sz="13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real-world threat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individuals, institutions, and democracy itself.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992412"/>
            <a:ext cx="334855" cy="3348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1765" y="2049959"/>
            <a:ext cx="577657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Fake News &amp; Misinformation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81765" y="2400598"/>
            <a:ext cx="5776570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Realistic videos can spread false narratives at scale, eroding public trust.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2949873"/>
            <a:ext cx="334855" cy="3348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1765" y="3007420"/>
            <a:ext cx="577657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Identity Theft &amp; Fraud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81765" y="3358059"/>
            <a:ext cx="5776570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Impersonation of faces and voices enables financial fraud and social engineering.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159945"/>
            <a:ext cx="334855" cy="3348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1765" y="4217491"/>
            <a:ext cx="577657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Reputation Damage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181765" y="4568130"/>
            <a:ext cx="5776570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Fabricated content can destroy careers, relationships, and organizational credibility.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5370016"/>
            <a:ext cx="334855" cy="3348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1765" y="5427563"/>
            <a:ext cx="577657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Election Manipulation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181765" y="5778202"/>
            <a:ext cx="5776570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Synthetic media can be weaponized to influence public opinion and destabilize democracies.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-8165"/>
            <a:ext cx="4571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0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15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Deepfake Detection Techniques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5878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Detection systems analyze </a:t>
            </a: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multiple layers of evidence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distinguish real from synthetic media.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1475" y="1576784"/>
            <a:ext cx="10868745" cy="8506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7725" y="1869182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53806" y="1737519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Visual 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53806" y="2022673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Detects unnatural facial movements, skin texture anomalies, and boundary inconsistencies.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533650"/>
            <a:ext cx="10868745" cy="8506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725" y="282604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353806" y="2694384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Audio Analysis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53806" y="2979539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Identifies unnatural speech patterns, pitch inconsistencies, and synthetic voice artifacts.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3490516"/>
            <a:ext cx="10868745" cy="8506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725" y="378291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353806" y="3651250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Temporal Analysis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53806" y="3936405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Compares consecutive frames to catch unusual transitions and inconsistent motion.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447381"/>
            <a:ext cx="10868745" cy="8506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7725" y="473977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353806" y="4608116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Metadata Analysis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53806" y="4893270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Examines file creation details, editing history, and encoding signatures.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5404247"/>
            <a:ext cx="10868745" cy="8506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7725" y="569664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1353806" y="5564981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AI-Based Detection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53806" y="5850136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CNNs, RNNs, and Vision Transformers classify media with high accuracy.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57059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16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Deep Learning Detection Pipeline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34" y="1288852"/>
            <a:ext cx="7364427" cy="2763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64021" y="3167535"/>
            <a:ext cx="1110776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AI Classification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964139" y="3274526"/>
            <a:ext cx="1110776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1866" y="3274526"/>
            <a:ext cx="1110775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Face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79592" y="3274526"/>
            <a:ext cx="1110776" cy="427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Frame Extraction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56887" y="3381517"/>
            <a:ext cx="1110776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Input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424914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Model Architecture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42425" y="4540945"/>
            <a:ext cx="2597680" cy="6973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1829" y="4559995"/>
            <a:ext cx="240827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CNN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31829" y="4859238"/>
            <a:ext cx="240827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Extracts spatial visual features from individual video frames.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36742" y="4540945"/>
            <a:ext cx="2597780" cy="6973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6146" y="4559995"/>
            <a:ext cx="240837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RNN / LSTM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26146" y="4859238"/>
            <a:ext cx="240837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Analyzes temporal patterns and inconsistencies across frames.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2425" y="5385395"/>
            <a:ext cx="2597680" cy="69730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1829" y="5404445"/>
            <a:ext cx="240827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Vision Transformer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31829" y="5703689"/>
            <a:ext cx="240827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Learns long-range relationships between image regions for finer detection.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336742" y="5385395"/>
            <a:ext cx="2597780" cy="69730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526146" y="5404445"/>
            <a:ext cx="240837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Ensemble Models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3526146" y="5703689"/>
            <a:ext cx="240837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Combine multiple architectures to maximize detection accuracy.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263523" y="424914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Sample Output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263523" y="4548386"/>
            <a:ext cx="588263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produces a </a:t>
            </a: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confidence score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each piece of media: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263523" y="4832548"/>
            <a:ext cx="5273047" cy="471190"/>
          </a:xfrm>
          <a:prstGeom prst="roundRect">
            <a:avLst>
              <a:gd name="adj" fmla="val 4212"/>
            </a:avLst>
          </a:prstGeom>
          <a:solidFill>
            <a:srgbClr val="EEE8DD"/>
          </a:solidFill>
          <a:ln/>
        </p:spPr>
      </p:sp>
      <p:sp>
        <p:nvSpPr>
          <p:cNvPr id="25" name="Shape 18"/>
          <p:cNvSpPr/>
          <p:nvPr/>
        </p:nvSpPr>
        <p:spPr>
          <a:xfrm>
            <a:off x="6263523" y="4832548"/>
            <a:ext cx="2636474" cy="471190"/>
          </a:xfrm>
          <a:custGeom>
            <a:avLst/>
            <a:gdLst/>
            <a:ahLst/>
            <a:cxnLst/>
            <a:rect l="l" t="t" r="r" b="b"/>
            <a:pathLst>
              <a:path w="2636474" h="471190">
                <a:moveTo>
                  <a:pt x="16539" y="0"/>
                </a:moveTo>
                <a:lnTo>
                  <a:pt x="2636474" y="0"/>
                </a:lnTo>
                <a:lnTo>
                  <a:pt x="2636474" y="471190"/>
                </a:lnTo>
                <a:lnTo>
                  <a:pt x="16539" y="471190"/>
                </a:lnTo>
                <a:arcTo wR="16539" hR="16540" stAng="5400000" swAng="5400000"/>
                <a:lnTo>
                  <a:pt x="0" y="16540"/>
                </a:lnTo>
                <a:arcTo wR="16539" hR="16540" stAng="10800000" swAng="5400000"/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26" name="Text 19"/>
          <p:cNvSpPr/>
          <p:nvPr/>
        </p:nvSpPr>
        <p:spPr>
          <a:xfrm>
            <a:off x="6395778" y="4964807"/>
            <a:ext cx="237196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Real: 12%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899997" y="4832548"/>
            <a:ext cx="2636573" cy="471190"/>
          </a:xfrm>
          <a:custGeom>
            <a:avLst/>
            <a:gdLst/>
            <a:ahLst/>
            <a:cxnLst/>
            <a:rect l="l" t="t" r="r" b="b"/>
            <a:pathLst>
              <a:path w="2636573" h="471190">
                <a:moveTo>
                  <a:pt x="0" y="0"/>
                </a:moveTo>
                <a:lnTo>
                  <a:pt x="2620034" y="0"/>
                </a:lnTo>
                <a:arcTo wR="16539" hR="16540" stAng="16200000" swAng="5400000"/>
                <a:lnTo>
                  <a:pt x="2636573" y="454650"/>
                </a:lnTo>
                <a:arcTo wR="16539" hR="16540" stAng="0" swAng="5400000"/>
                <a:lnTo>
                  <a:pt x="0" y="471190"/>
                </a:lnTo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28" name="Shape 21"/>
          <p:cNvSpPr/>
          <p:nvPr/>
        </p:nvSpPr>
        <p:spPr>
          <a:xfrm>
            <a:off x="8899997" y="4832548"/>
            <a:ext cx="19050" cy="47119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29" name="Text 22"/>
          <p:cNvSpPr/>
          <p:nvPr/>
        </p:nvSpPr>
        <p:spPr>
          <a:xfrm>
            <a:off x="9032252" y="4964807"/>
            <a:ext cx="237206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Deepfake: 88%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263523" y="5407918"/>
            <a:ext cx="5273047" cy="592733"/>
          </a:xfrm>
          <a:prstGeom prst="roundRect">
            <a:avLst>
              <a:gd name="adj" fmla="val 3348"/>
            </a:avLst>
          </a:prstGeom>
          <a:solidFill>
            <a:srgbClr val="ECE6D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5778" y="5544741"/>
            <a:ext cx="165294" cy="13225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328" y="5524302"/>
            <a:ext cx="471098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Higher confidence scores indicate stronger evidence of manipulation — but no single threshold is universal.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3080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Challenges &amp; Future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Current Challenges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32315" y="2340868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33144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Deepfakes are becoming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increasingly photorealistic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narrowing detectable artifacts.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32315" y="332372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1430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New generation methods can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bypass older detection techniques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32315" y="430659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29716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Models may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fail on unseen deepfake types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not represented in training data.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32315" y="528945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28002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High-quality detection requires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large, diverse datasets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significant compute.</a:t>
            </a:r>
            <a:endParaRPr lang="en-US" sz="1450" dirty="0"/>
          </a:p>
        </p:txBody>
      </p:sp>
      <p:sp>
        <p:nvSpPr>
          <p:cNvPr id="12" name="Shape 6"/>
          <p:cNvSpPr/>
          <p:nvPr/>
        </p:nvSpPr>
        <p:spPr>
          <a:xfrm>
            <a:off x="6196651" y="1634530"/>
            <a:ext cx="5476043" cy="4462959"/>
          </a:xfrm>
          <a:prstGeom prst="roundRect">
            <a:avLst>
              <a:gd name="adj" fmla="val 635"/>
            </a:avLst>
          </a:prstGeom>
          <a:solidFill>
            <a:srgbClr val="DECEBB"/>
          </a:solidFill>
          <a:ln/>
        </p:spPr>
      </p:sp>
      <p:sp>
        <p:nvSpPr>
          <p:cNvPr id="13" name="Text 7"/>
          <p:cNvSpPr/>
          <p:nvPr/>
        </p:nvSpPr>
        <p:spPr>
          <a:xfrm>
            <a:off x="6385658" y="182354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Future Directions</a:t>
            </a:r>
            <a:endParaRPr lang="en-US" sz="1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456499" y="2340868"/>
            <a:ext cx="283461" cy="2834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99906" y="2331442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Real-time detection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integrated directly into social media platforms.</a:t>
            </a:r>
            <a:endParaRPr lang="en-US" sz="14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456499" y="3323729"/>
            <a:ext cx="283461" cy="2834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99906" y="3314303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Multimodal systems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combining video, audio, and text analysis.</a:t>
            </a:r>
            <a:endParaRPr lang="en-US" sz="14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456499" y="4306590"/>
            <a:ext cx="283461" cy="2834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99906" y="4297164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Robust Transformer models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trained on diverse, evolving datasets.</a:t>
            </a:r>
            <a:endParaRPr lang="en-US" sz="14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456499" y="5289451"/>
            <a:ext cx="283461" cy="2834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99906" y="5280025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Digital watermarking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content provenance standards.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20917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813495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 smtClean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61475" y="1520329"/>
            <a:ext cx="361445" cy="361454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721650" y="1550392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159441" y="1575495"/>
            <a:ext cx="5798893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Deepfakes are a defining challenge of the Generative AI era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59441" y="2159397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Synthetic media can now replicate faces, voices, and behaviors with near-perfect realism.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2907903"/>
            <a:ext cx="361445" cy="361454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721650" y="2937966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59441" y="2963069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and Deep Learning are our best defense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59441" y="3295948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CNNs, Transformers, and ensemble models provide powerful tools for detecting manipulation.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4044454"/>
            <a:ext cx="361445" cy="361454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721650" y="4074517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159441" y="4099620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 single technique is sufficient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59441" y="4432498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Combining visual, audio, temporal, and metadata signals improves reliability and robustness.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181005"/>
            <a:ext cx="361445" cy="361454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7" name="Text 14"/>
          <p:cNvSpPr/>
          <p:nvPr/>
        </p:nvSpPr>
        <p:spPr>
          <a:xfrm>
            <a:off x="721650" y="521106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1159441" y="5236170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Research must keep pace with generation technology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159441" y="5569049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 deepfake methods evolve, detection systems must continuously adapt and improve.</a:t>
            </a:r>
            <a:endParaRPr lang="en-US" sz="12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l="15858" r="15900"/>
          <a:stretch/>
        </p:blipFill>
        <p:spPr>
          <a:xfrm>
            <a:off x="7347858" y="1376263"/>
            <a:ext cx="44005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3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0878" y="2686049"/>
            <a:ext cx="84826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latin typeface="Copperplate Gothic Light" panose="020E0507020206020404" pitchFamily="34" charset="0"/>
              </a:rPr>
              <a:t>Thank you..!!</a:t>
            </a:r>
            <a:endParaRPr lang="en-US" sz="9600" dirty="0">
              <a:latin typeface="Copperplate Gothic Light" panose="020E0507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638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Copperplate Gothic Light</vt:lpstr>
      <vt:lpstr>Gelasio</vt:lpstr>
      <vt:lpstr>Gelasio Bold</vt:lpstr>
      <vt:lpstr>Gelasio SemiBold</vt:lpstr>
      <vt:lpstr>Saira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hi</cp:lastModifiedBy>
  <cp:revision>8</cp:revision>
  <dcterms:created xsi:type="dcterms:W3CDTF">2026-08-28T12:47:57Z</dcterms:created>
  <dcterms:modified xsi:type="dcterms:W3CDTF">2026-08-29T08:12:12Z</dcterms:modified>
</cp:coreProperties>
</file>